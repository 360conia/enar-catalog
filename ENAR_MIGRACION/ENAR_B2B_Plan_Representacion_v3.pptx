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923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219456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ENAR B2B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Asesor comercial con IA integrado al catálogo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3291840"/>
            <a:ext cx="2286000" cy="54864"/>
          </a:xfrm>
          <a:prstGeom prst="rect">
            <a:avLst/>
          </a:prstGeom>
          <a:solidFill>
            <a:srgbClr val="D9232D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Representación por Zonas Geográficas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 para Representantes Comerciales en Colombia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D923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2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09728"/>
            <a:ext cx="1097280" cy="548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0515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2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457200" y="1051560"/>
            <a:ext cx="73152" cy="1737360"/>
          </a:xfrm>
          <a:prstGeom prst="rect">
            <a:avLst/>
          </a:prstGeom>
          <a:solidFill>
            <a:srgbClr val="D9232D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34440"/>
            <a:ext cx="457200" cy="457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80160" y="1280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685800" y="1828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Expandir la red de distribución de ENAR a través de representantes zonales que atiendan negocios minoristas de materiales de construcción.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4663440" y="10515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2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4663440" y="1051560"/>
            <a:ext cx="73152" cy="1737360"/>
          </a:xfrm>
          <a:prstGeom prst="rect">
            <a:avLst/>
          </a:prstGeom>
          <a:solidFill>
            <a:srgbClr val="D9232D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34440"/>
            <a:ext cx="457200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486400" y="1280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Objetivo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4892040" y="1828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Ferreterías, depósitos de materiales, tiendas de construcción y negocios que vendan directamente al consumidor final.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457200" y="297180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2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457200" y="2971800"/>
            <a:ext cx="73152" cy="1737360"/>
          </a:xfrm>
          <a:prstGeom prst="rect">
            <a:avLst/>
          </a:prstGeom>
          <a:solidFill>
            <a:srgbClr val="D9232D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15468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80160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685800" y="3749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Representantes por comisión pura, sin salario fijo, con territorio exclusivo y herramientas tecnológicas de soporte.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4663440" y="297180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20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4663440" y="2971800"/>
            <a:ext cx="73152" cy="1737360"/>
          </a:xfrm>
          <a:prstGeom prst="rect">
            <a:avLst/>
          </a:prstGeom>
          <a:solidFill>
            <a:srgbClr val="D9232D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154680"/>
            <a:ext cx="457200" cy="4572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486400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Diferenciador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4892040" y="3749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ENAR B2B con IA integrada para autogeneración de órdenes + acompañamiento personalizado y asistencia técnica remota.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D923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ENAR B2B - Catálogo de Autogestión</a:t>
            </a:r>
            <a:endParaRPr lang="en-US" sz="2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09728"/>
            <a:ext cx="1097280" cy="548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051560"/>
            <a:ext cx="402336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457200" y="1051560"/>
            <a:ext cx="4023360" cy="640080"/>
          </a:xfrm>
          <a:prstGeom prst="rect">
            <a:avLst/>
          </a:prstGeom>
          <a:solidFill>
            <a:srgbClr val="1E3A8A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15568"/>
            <a:ext cx="502920" cy="411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43000" y="1170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ENAR B2B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457200" y="1691640"/>
            <a:ext cx="4023360" cy="45720"/>
          </a:xfrm>
          <a:prstGeom prst="rect">
            <a:avLst/>
          </a:prstGeom>
          <a:solidFill>
            <a:srgbClr val="D9232D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920240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51560" y="1965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inteligente de productos</a:t>
            </a:r>
            <a:endParaRPr lang="en-US" sz="12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450592"/>
            <a:ext cx="320040" cy="32004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51560" y="24963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con precios mayoristas</a:t>
            </a:r>
            <a:endParaRPr lang="en-US" sz="12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980944"/>
            <a:ext cx="320040" cy="32004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51560" y="302666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Carrito de compras integrado</a:t>
            </a:r>
            <a:endParaRPr lang="en-US" sz="12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511296"/>
            <a:ext cx="320040" cy="32004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051560" y="355701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órdenes de compra</a:t>
            </a:r>
            <a:endParaRPr lang="en-US" sz="120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4041648"/>
            <a:ext cx="320040" cy="32004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051560" y="40873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de stock y ofertas</a:t>
            </a:r>
            <a:endParaRPr lang="en-US" sz="1200" dirty="0"/>
          </a:p>
        </p:txBody>
      </p:sp>
      <p:sp>
        <p:nvSpPr>
          <p:cNvPr id="21" name="Shape 11"/>
          <p:cNvSpPr/>
          <p:nvPr/>
        </p:nvSpPr>
        <p:spPr>
          <a:xfrm>
            <a:off x="594360" y="4434840"/>
            <a:ext cx="3749040" cy="365760"/>
          </a:xfrm>
          <a:prstGeom prst="rect">
            <a:avLst/>
          </a:prstGeom>
          <a:solidFill>
            <a:srgbClr val="FDE8E8"/>
          </a:solidFill>
          <a:ln/>
        </p:spPr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4462272"/>
            <a:ext cx="274320" cy="27432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051560" y="44988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IA: Autogeneración de órdenes de compra</a:t>
            </a:r>
            <a:endParaRPr lang="en-US" sz="1100" dirty="0"/>
          </a:p>
        </p:txBody>
      </p:sp>
      <p:sp>
        <p:nvSpPr>
          <p:cNvPr id="24" name="Text 13"/>
          <p:cNvSpPr/>
          <p:nvPr/>
        </p:nvSpPr>
        <p:spPr>
          <a:xfrm>
            <a:off x="475488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Clave</a:t>
            </a:r>
            <a:endParaRPr lang="en-US" sz="1800" dirty="0"/>
          </a:p>
        </p:txBody>
      </p:sp>
      <p:sp>
        <p:nvSpPr>
          <p:cNvPr id="25" name="Shape 14"/>
          <p:cNvSpPr/>
          <p:nvPr/>
        </p:nvSpPr>
        <p:spPr>
          <a:xfrm>
            <a:off x="4754880" y="1554480"/>
            <a:ext cx="393192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4608" y="1627632"/>
            <a:ext cx="320040" cy="32004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257800" y="16002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24/7</a:t>
            </a:r>
            <a:endParaRPr lang="en-US" sz="1100" dirty="0"/>
          </a:p>
        </p:txBody>
      </p:sp>
      <p:sp>
        <p:nvSpPr>
          <p:cNvPr id="28" name="Text 16"/>
          <p:cNvSpPr/>
          <p:nvPr/>
        </p:nvSpPr>
        <p:spPr>
          <a:xfrm>
            <a:off x="5257800" y="18013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ordenan desde cualquier lugar</a:t>
            </a:r>
            <a:endParaRPr lang="en-US" sz="900" dirty="0"/>
          </a:p>
        </p:txBody>
      </p:sp>
      <p:sp>
        <p:nvSpPr>
          <p:cNvPr id="29" name="Shape 17"/>
          <p:cNvSpPr/>
          <p:nvPr/>
        </p:nvSpPr>
        <p:spPr>
          <a:xfrm>
            <a:off x="4754880" y="2084832"/>
            <a:ext cx="393192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64608" y="2157984"/>
            <a:ext cx="320040" cy="320040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5257800" y="21305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70% tiempo</a:t>
            </a:r>
            <a:endParaRPr lang="en-US" sz="1100" dirty="0"/>
          </a:p>
        </p:txBody>
      </p:sp>
      <p:sp>
        <p:nvSpPr>
          <p:cNvPr id="32" name="Text 19"/>
          <p:cNvSpPr/>
          <p:nvPr/>
        </p:nvSpPr>
        <p:spPr>
          <a:xfrm>
            <a:off x="5257800" y="233172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tiempo en toma de pedidos</a:t>
            </a:r>
            <a:endParaRPr lang="en-US" sz="900" dirty="0"/>
          </a:p>
        </p:txBody>
      </p:sp>
      <p:sp>
        <p:nvSpPr>
          <p:cNvPr id="33" name="Shape 20"/>
          <p:cNvSpPr/>
          <p:nvPr/>
        </p:nvSpPr>
        <p:spPr>
          <a:xfrm>
            <a:off x="4754880" y="2615184"/>
            <a:ext cx="393192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64608" y="2688336"/>
            <a:ext cx="320040" cy="320040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5257800" y="26609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errores</a:t>
            </a:r>
            <a:endParaRPr lang="en-US" sz="1100" dirty="0"/>
          </a:p>
        </p:txBody>
      </p:sp>
      <p:sp>
        <p:nvSpPr>
          <p:cNvPr id="36" name="Text 22"/>
          <p:cNvSpPr/>
          <p:nvPr/>
        </p:nvSpPr>
        <p:spPr>
          <a:xfrm>
            <a:off x="5257800" y="286207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errores de digitación</a:t>
            </a:r>
            <a:endParaRPr lang="en-US" sz="900" dirty="0"/>
          </a:p>
        </p:txBody>
      </p:sp>
      <p:sp>
        <p:nvSpPr>
          <p:cNvPr id="37" name="Shape 23"/>
          <p:cNvSpPr/>
          <p:nvPr/>
        </p:nvSpPr>
        <p:spPr>
          <a:xfrm>
            <a:off x="4754880" y="3145536"/>
            <a:ext cx="393192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64608" y="3218688"/>
            <a:ext cx="320040" cy="320040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5257800" y="31912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según cliente</a:t>
            </a:r>
            <a:endParaRPr lang="en-US" sz="1100" dirty="0"/>
          </a:p>
        </p:txBody>
      </p:sp>
      <p:sp>
        <p:nvSpPr>
          <p:cNvPr id="40" name="Text 25"/>
          <p:cNvSpPr/>
          <p:nvPr/>
        </p:nvSpPr>
        <p:spPr>
          <a:xfrm>
            <a:off x="5257800" y="339242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precios personalizada</a:t>
            </a:r>
            <a:endParaRPr lang="en-US" sz="900" dirty="0"/>
          </a:p>
        </p:txBody>
      </p:sp>
      <p:sp>
        <p:nvSpPr>
          <p:cNvPr id="41" name="Shape 26"/>
          <p:cNvSpPr/>
          <p:nvPr/>
        </p:nvSpPr>
        <p:spPr>
          <a:xfrm>
            <a:off x="4754880" y="3675888"/>
            <a:ext cx="393192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pic>
        <p:nvPicPr>
          <p:cNvPr id="4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64608" y="3749040"/>
            <a:ext cx="320040" cy="320040"/>
          </a:xfrm>
          <a:prstGeom prst="rect">
            <a:avLst/>
          </a:prstGeom>
        </p:spPr>
      </p:pic>
      <p:sp>
        <p:nvSpPr>
          <p:cNvPr id="43" name="Text 27"/>
          <p:cNvSpPr/>
          <p:nvPr/>
        </p:nvSpPr>
        <p:spPr>
          <a:xfrm>
            <a:off x="5257800" y="37216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en tiempo real</a:t>
            </a:r>
            <a:endParaRPr lang="en-US" sz="1100" dirty="0"/>
          </a:p>
        </p:txBody>
      </p:sp>
      <p:sp>
        <p:nvSpPr>
          <p:cNvPr id="44" name="Text 28"/>
          <p:cNvSpPr/>
          <p:nvPr/>
        </p:nvSpPr>
        <p:spPr>
          <a:xfrm>
            <a:off x="5257800" y="392277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actualizada al instante</a:t>
            </a:r>
            <a:endParaRPr lang="en-US" sz="900" dirty="0"/>
          </a:p>
        </p:txBody>
      </p:sp>
      <p:sp>
        <p:nvSpPr>
          <p:cNvPr id="45" name="Shape 29"/>
          <p:cNvSpPr/>
          <p:nvPr/>
        </p:nvSpPr>
        <p:spPr>
          <a:xfrm>
            <a:off x="4754880" y="4206240"/>
            <a:ext cx="393192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pic>
        <p:nvPicPr>
          <p:cNvPr id="4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64608" y="4279392"/>
            <a:ext cx="320040" cy="320040"/>
          </a:xfrm>
          <a:prstGeom prst="rect">
            <a:avLst/>
          </a:prstGeom>
        </p:spPr>
      </p:pic>
      <p:sp>
        <p:nvSpPr>
          <p:cNvPr id="47" name="Text 30"/>
          <p:cNvSpPr/>
          <p:nvPr/>
        </p:nvSpPr>
        <p:spPr>
          <a:xfrm>
            <a:off x="5257800" y="42519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amigable</a:t>
            </a:r>
            <a:endParaRPr lang="en-US" sz="1100" dirty="0"/>
          </a:p>
        </p:txBody>
      </p:sp>
      <p:sp>
        <p:nvSpPr>
          <p:cNvPr id="48" name="Text 31"/>
          <p:cNvSpPr/>
          <p:nvPr/>
        </p:nvSpPr>
        <p:spPr>
          <a:xfrm>
            <a:off x="5257800" y="445312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rendimiento e interfaz intuitiva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D923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ENAR B2B - Catálogo y Carrito de Compras</a:t>
            </a:r>
            <a:endParaRPr lang="en-US" sz="2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09728"/>
            <a:ext cx="1097280" cy="548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051560"/>
            <a:ext cx="420624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457200" y="1051560"/>
            <a:ext cx="4206240" cy="41148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8" name="Text 4"/>
          <p:cNvSpPr/>
          <p:nvPr/>
        </p:nvSpPr>
        <p:spPr>
          <a:xfrm>
            <a:off x="594360" y="11155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Catálogo de Productos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48640" y="1554480"/>
            <a:ext cx="4023360" cy="3200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0" name="Text 6"/>
          <p:cNvSpPr/>
          <p:nvPr/>
        </p:nvSpPr>
        <p:spPr>
          <a:xfrm>
            <a:off x="640080" y="16002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CÓDIGO     PRODUCTO                    STOCK   P.MAYORISTA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548640" y="1920240"/>
            <a:ext cx="4023360" cy="329184"/>
          </a:xfrm>
          <a:prstGeom prst="rect">
            <a:avLst/>
          </a:prstGeom>
          <a:solidFill>
            <a:srgbClr val="E3EEF5"/>
          </a:solidFill>
          <a:ln/>
        </p:spPr>
      </p:sp>
      <p:sp>
        <p:nvSpPr>
          <p:cNvPr id="12" name="Text 8"/>
          <p:cNvSpPr/>
          <p:nvPr/>
        </p:nvSpPr>
        <p:spPr>
          <a:xfrm>
            <a:off x="640080" y="199339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       Soldadura Pvc 1/128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3108960" y="19933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5709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3749040" y="199339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$1.641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548640" y="2267712"/>
            <a:ext cx="402336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2"/>
          <p:cNvSpPr/>
          <p:nvPr/>
        </p:nvSpPr>
        <p:spPr>
          <a:xfrm>
            <a:off x="640080" y="234086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       Limpiador Pvc-Cpvc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3108960" y="234086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4749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3749040" y="2340864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$1.402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548640" y="2615184"/>
            <a:ext cx="4023360" cy="329184"/>
          </a:xfrm>
          <a:prstGeom prst="rect">
            <a:avLst/>
          </a:prstGeom>
          <a:solidFill>
            <a:srgbClr val="E3EEF5"/>
          </a:solidFill>
          <a:ln/>
        </p:spPr>
      </p:sp>
      <p:sp>
        <p:nvSpPr>
          <p:cNvPr id="20" name="Text 16"/>
          <p:cNvSpPr/>
          <p:nvPr/>
        </p:nvSpPr>
        <p:spPr>
          <a:xfrm>
            <a:off x="640080" y="268833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       Soldadura Pvc 1/64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3108960" y="268833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2541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3749040" y="268833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$2.803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548640" y="2962656"/>
            <a:ext cx="402336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0"/>
          <p:cNvSpPr/>
          <p:nvPr/>
        </p:nvSpPr>
        <p:spPr>
          <a:xfrm>
            <a:off x="640080" y="303580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        Enarcril Bolsa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3108960" y="30358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1425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3749040" y="303580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$6.082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548640" y="3310128"/>
            <a:ext cx="4023360" cy="329184"/>
          </a:xfrm>
          <a:prstGeom prst="rect">
            <a:avLst/>
          </a:prstGeom>
          <a:solidFill>
            <a:srgbClr val="E3EEF5"/>
          </a:solidFill>
          <a:ln/>
        </p:spPr>
      </p:sp>
      <p:sp>
        <p:nvSpPr>
          <p:cNvPr id="28" name="Text 24"/>
          <p:cNvSpPr/>
          <p:nvPr/>
        </p:nvSpPr>
        <p:spPr>
          <a:xfrm>
            <a:off x="640080" y="33832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        Pegante Amarillo 60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108960" y="338328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1185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3749040" y="338328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$1.950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594360" y="37490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Filtros: Categoría • Marca • Ofertas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4846320" y="1051560"/>
            <a:ext cx="38404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33" name="Text 29"/>
          <p:cNvSpPr/>
          <p:nvPr/>
        </p:nvSpPr>
        <p:spPr>
          <a:xfrm>
            <a:off x="4983480" y="1143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Carrito de Compras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4983480" y="1600200"/>
            <a:ext cx="3566160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5" name="Text 31"/>
          <p:cNvSpPr/>
          <p:nvPr/>
        </p:nvSpPr>
        <p:spPr>
          <a:xfrm>
            <a:off x="5074920" y="167335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Soldadura Pvc 1/64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5074920" y="18745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Cant: 3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7498080" y="1737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$8.408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4983480" y="2194560"/>
            <a:ext cx="3566160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9" name="Text 35"/>
          <p:cNvSpPr/>
          <p:nvPr/>
        </p:nvSpPr>
        <p:spPr>
          <a:xfrm>
            <a:off x="5074920" y="226771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Limpiador Pvc-Cpvc 1/64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5074920" y="24688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Cant: 3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7498080" y="23317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$6.379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4983480" y="2788920"/>
            <a:ext cx="3566160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3" name="Text 39"/>
          <p:cNvSpPr/>
          <p:nvPr/>
        </p:nvSpPr>
        <p:spPr>
          <a:xfrm>
            <a:off x="5074920" y="28620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Soldadura Pvc 1/32</a:t>
            </a:r>
            <a:endParaRPr lang="en-US" sz="1000" dirty="0"/>
          </a:p>
        </p:txBody>
      </p:sp>
      <p:sp>
        <p:nvSpPr>
          <p:cNvPr id="44" name="Text 40"/>
          <p:cNvSpPr/>
          <p:nvPr/>
        </p:nvSpPr>
        <p:spPr>
          <a:xfrm>
            <a:off x="5074920" y="30632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Cant: 6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7498080" y="29260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$27.835</a:t>
            </a:r>
            <a:endParaRPr lang="en-US" sz="1200" dirty="0"/>
          </a:p>
        </p:txBody>
      </p:sp>
      <p:sp>
        <p:nvSpPr>
          <p:cNvPr id="46" name="Shape 42"/>
          <p:cNvSpPr/>
          <p:nvPr/>
        </p:nvSpPr>
        <p:spPr>
          <a:xfrm>
            <a:off x="4983480" y="3520440"/>
            <a:ext cx="3566160" cy="45720"/>
          </a:xfrm>
          <a:prstGeom prst="rect">
            <a:avLst/>
          </a:prstGeom>
          <a:solidFill>
            <a:srgbClr val="D9232D"/>
          </a:solidFill>
          <a:ln/>
        </p:spPr>
      </p:sp>
      <p:sp>
        <p:nvSpPr>
          <p:cNvPr id="47" name="Text 43"/>
          <p:cNvSpPr/>
          <p:nvPr/>
        </p:nvSpPr>
        <p:spPr>
          <a:xfrm>
            <a:off x="5074920" y="36393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(IVA incluido):</a:t>
            </a:r>
            <a:endParaRPr lang="en-US" sz="1200" dirty="0"/>
          </a:p>
        </p:txBody>
      </p:sp>
      <p:sp>
        <p:nvSpPr>
          <p:cNvPr id="48" name="Text 44"/>
          <p:cNvSpPr/>
          <p:nvPr/>
        </p:nvSpPr>
        <p:spPr>
          <a:xfrm>
            <a:off x="7132320" y="3611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9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$42.621</a:t>
            </a:r>
            <a:endParaRPr lang="en-US" sz="1600" dirty="0"/>
          </a:p>
        </p:txBody>
      </p:sp>
      <p:sp>
        <p:nvSpPr>
          <p:cNvPr id="49" name="Shape 45"/>
          <p:cNvSpPr/>
          <p:nvPr/>
        </p:nvSpPr>
        <p:spPr>
          <a:xfrm>
            <a:off x="5074920" y="4069080"/>
            <a:ext cx="1554480" cy="365760"/>
          </a:xfrm>
          <a:prstGeom prst="rect">
            <a:avLst/>
          </a:prstGeom>
          <a:solidFill>
            <a:srgbClr val="6C757D"/>
          </a:solidFill>
          <a:ln/>
        </p:spPr>
      </p:sp>
      <p:sp>
        <p:nvSpPr>
          <p:cNvPr id="50" name="Text 46"/>
          <p:cNvSpPr/>
          <p:nvPr/>
        </p:nvSpPr>
        <p:spPr>
          <a:xfrm>
            <a:off x="5074920" y="41330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Vaciar carrito</a:t>
            </a:r>
            <a:endParaRPr lang="en-US" sz="1000" dirty="0"/>
          </a:p>
        </p:txBody>
      </p:sp>
      <p:sp>
        <p:nvSpPr>
          <p:cNvPr id="51" name="Shape 47"/>
          <p:cNvSpPr/>
          <p:nvPr/>
        </p:nvSpPr>
        <p:spPr>
          <a:xfrm>
            <a:off x="6812280" y="4069080"/>
            <a:ext cx="1554480" cy="365760"/>
          </a:xfrm>
          <a:prstGeom prst="rect">
            <a:avLst/>
          </a:prstGeom>
          <a:solidFill>
            <a:srgbClr val="D9232D"/>
          </a:solidFill>
          <a:ln/>
        </p:spPr>
      </p:sp>
      <p:sp>
        <p:nvSpPr>
          <p:cNvPr id="52" name="Text 48"/>
          <p:cNvSpPr/>
          <p:nvPr/>
        </p:nvSpPr>
        <p:spPr>
          <a:xfrm>
            <a:off x="6812280" y="41330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Orden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D923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Negocio: Representante de Zona</a:t>
            </a:r>
            <a:endParaRPr lang="en-US" sz="2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09728"/>
            <a:ext cx="1097280" cy="548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051560"/>
            <a:ext cx="402336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11155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Representante de Zona?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40080" y="160020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 comercial independiente que: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 exclusivamente a ENAR en un territorio geográfico definido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negocios minoristas para captar nuevos clientes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 clientes en el uso de la plataforma ENAR B2B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 entregas y frecuencias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Apoya en el proceso de cobranza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comisión sobre ventas realizadas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663440" y="1051560"/>
            <a:ext cx="402336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2" name="Text 8"/>
          <p:cNvSpPr/>
          <p:nvPr/>
        </p:nvSpPr>
        <p:spPr>
          <a:xfrm>
            <a:off x="4846320" y="11155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del Modelo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846320" y="160020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ENAR: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 sin costos fijos de nómina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 local con conocimiento de mercado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 rápida a nuevas zonas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Representante: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ilimitados según desempeño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 horaria y autonomía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Territorio exclusivo protegido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tecnológica de soporte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D923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 de Venta: Contado vs Crédito</a:t>
            </a:r>
            <a:endParaRPr lang="en-US" sz="2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09728"/>
            <a:ext cx="1097280" cy="548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05156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457200" y="1051560"/>
            <a:ext cx="4023360" cy="640080"/>
          </a:xfrm>
          <a:prstGeom prst="rect">
            <a:avLst/>
          </a:prstGeom>
          <a:solidFill>
            <a:srgbClr val="28A745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70432"/>
            <a:ext cx="411480" cy="411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43000" y="1234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DE CONTADO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640080" y="182880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de descuento sobre el total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en despacho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documentación adicional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inmediato al catálogo completo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mínimo: $500.000 COP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antes del despacho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Transferencia, efectivo o datáfono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4663440" y="105156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4663440" y="1051560"/>
            <a:ext cx="4023360" cy="640080"/>
          </a:xfrm>
          <a:prstGeom prst="rect">
            <a:avLst/>
          </a:prstGeom>
          <a:solidFill>
            <a:srgbClr val="1E3A8A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170432"/>
            <a:ext cx="411480" cy="411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349240" y="1234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30 DÍAS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4846320" y="182880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para acceder: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3 órdenes de contado previas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Antigüedad del negocio: 1 año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referencias comerciales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 de comercio vigente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 inicial: Según evaluación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máximo: 30 días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mínimo: $1.000.000 COP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D923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Crédito - Requisitos y Proceso</a:t>
            </a:r>
            <a:endParaRPr lang="en-US" sz="2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09728"/>
            <a:ext cx="1097280" cy="548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05156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457200" y="1051560"/>
            <a:ext cx="73152" cy="1188720"/>
          </a:xfrm>
          <a:prstGeom prst="rect">
            <a:avLst/>
          </a:prstGeom>
          <a:solidFill>
            <a:srgbClr val="D9232D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34440"/>
            <a:ext cx="457200" cy="457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80160" y="1234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Órdenes Previas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1280160" y="1600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compras de contado satisfactorio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4754880" y="105156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4754880" y="1051560"/>
            <a:ext cx="73152" cy="1188720"/>
          </a:xfrm>
          <a:prstGeom prst="rect">
            <a:avLst/>
          </a:prstGeom>
          <a:solidFill>
            <a:srgbClr val="D9232D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234440"/>
            <a:ext cx="457200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577840" y="1234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Año de Antigüedad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5577840" y="1600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 establecido con estabilidad demostrada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457200" y="237744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457200" y="2377440"/>
            <a:ext cx="73152" cy="1188720"/>
          </a:xfrm>
          <a:prstGeom prst="rect">
            <a:avLst/>
          </a:prstGeom>
          <a:solidFill>
            <a:srgbClr val="D9232D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56032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80160" y="2560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Referencias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1280160" y="2926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 activos que validen comportamiento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4754880" y="237744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4754880" y="2377440"/>
            <a:ext cx="73152" cy="1188720"/>
          </a:xfrm>
          <a:prstGeom prst="rect">
            <a:avLst/>
          </a:prstGeom>
          <a:solidFill>
            <a:srgbClr val="D9232D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2560320"/>
            <a:ext cx="457200" cy="4572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577840" y="2560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5577840" y="2926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 de comercio, RUT, cédula representante</a:t>
            </a:r>
            <a:endParaRPr lang="en-US" sz="1100" dirty="0"/>
          </a:p>
        </p:txBody>
      </p:sp>
      <p:sp>
        <p:nvSpPr>
          <p:cNvPr id="26" name="Text 18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 de Cupo de Crédito</a:t>
            </a:r>
            <a:endParaRPr lang="en-US" sz="1400" dirty="0"/>
          </a:p>
        </p:txBody>
      </p:sp>
      <p:sp>
        <p:nvSpPr>
          <p:cNvPr id="27" name="Shape 19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8" name="Text 20"/>
          <p:cNvSpPr/>
          <p:nvPr/>
        </p:nvSpPr>
        <p:spPr>
          <a:xfrm>
            <a:off x="548640" y="42245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             REQUISITO                              CUPO MÁXIMO         PLAZO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solidFill>
            <a:srgbClr val="E3EEF5"/>
          </a:solidFill>
          <a:ln/>
        </p:spPr>
      </p:sp>
      <p:sp>
        <p:nvSpPr>
          <p:cNvPr id="30" name="Text 22"/>
          <p:cNvSpPr/>
          <p:nvPr/>
        </p:nvSpPr>
        <p:spPr>
          <a:xfrm>
            <a:off x="548640" y="459943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            Aprobación de crédito                    $3.000.000          30 días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4"/>
          <p:cNvSpPr/>
          <p:nvPr/>
        </p:nvSpPr>
        <p:spPr>
          <a:xfrm>
            <a:off x="548640" y="491947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Bronce            3 meses sin mora                    $5.000.000          30 días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457200" y="5166360"/>
            <a:ext cx="8229600" cy="320040"/>
          </a:xfrm>
          <a:prstGeom prst="rect">
            <a:avLst/>
          </a:prstGeom>
          <a:solidFill>
            <a:srgbClr val="E3EEF5"/>
          </a:solidFill>
          <a:ln/>
        </p:spPr>
      </p:sp>
      <p:sp>
        <p:nvSpPr>
          <p:cNvPr id="34" name="Text 26"/>
          <p:cNvSpPr/>
          <p:nvPr/>
        </p:nvSpPr>
        <p:spPr>
          <a:xfrm>
            <a:off x="548640" y="523951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            6 meses + $50M compras                    $10.000.000          30 días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D923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Comisiones del Representante</a:t>
            </a:r>
            <a:endParaRPr lang="en-US" sz="2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09728"/>
            <a:ext cx="1097280" cy="548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051560"/>
            <a:ext cx="3840480" cy="1828800"/>
          </a:xfrm>
          <a:prstGeom prst="rect">
            <a:avLst/>
          </a:prstGeom>
          <a:solidFill>
            <a:srgbClr val="D9232D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457200" cy="4572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8872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 Comisión Pura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640080" y="17830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salario base fijo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variable según ventas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quincenales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Bonos por cumplimiento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4572000" y="1051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Comisiones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4572000" y="146304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4572000" y="1463040"/>
            <a:ext cx="54864" cy="548640"/>
          </a:xfrm>
          <a:prstGeom prst="rect">
            <a:avLst/>
          </a:prstGeom>
          <a:solidFill>
            <a:srgbClr val="6C757D"/>
          </a:solidFill>
          <a:ln/>
        </p:spPr>
      </p:sp>
      <p:sp>
        <p:nvSpPr>
          <p:cNvPr id="13" name="Text 8"/>
          <p:cNvSpPr/>
          <p:nvPr/>
        </p:nvSpPr>
        <p:spPr>
          <a:xfrm>
            <a:off x="4754880" y="15544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Básica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754880" y="17556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$0 - $10M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7772400" y="157276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4572000" y="210312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572000" y="2103120"/>
            <a:ext cx="54864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3"/>
          <p:cNvSpPr/>
          <p:nvPr/>
        </p:nvSpPr>
        <p:spPr>
          <a:xfrm>
            <a:off x="4754880" y="219456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754880" y="23957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$10M - $30M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7772400" y="221284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4572000" y="274320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572000" y="2743200"/>
            <a:ext cx="54864" cy="5486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3" name="Text 18"/>
          <p:cNvSpPr/>
          <p:nvPr/>
        </p:nvSpPr>
        <p:spPr>
          <a:xfrm>
            <a:off x="4754880" y="28346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754880" y="30358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&gt; $30M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7772400" y="285292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000" dirty="0"/>
          </a:p>
        </p:txBody>
      </p:sp>
      <p:sp>
        <p:nvSpPr>
          <p:cNvPr id="26" name="Text 21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Incentivos Adicionales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457200" y="3474720"/>
            <a:ext cx="2651760" cy="777240"/>
          </a:xfrm>
          <a:prstGeom prst="rect">
            <a:avLst/>
          </a:prstGeom>
          <a:solidFill>
            <a:srgbClr val="FDE8E8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548640" y="35478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Bono por cliente nuevo activo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548640" y="39136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+$50.000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3291840" y="3474720"/>
            <a:ext cx="2651760" cy="777240"/>
          </a:xfrm>
          <a:prstGeom prst="rect">
            <a:avLst/>
          </a:prstGeom>
          <a:solidFill>
            <a:srgbClr val="FDE8E8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31" name="Text 26"/>
          <p:cNvSpPr/>
          <p:nvPr/>
        </p:nvSpPr>
        <p:spPr>
          <a:xfrm>
            <a:off x="3383280" y="35478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Bono trimestral meta cumplida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3383280" y="39136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+1%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6126480" y="3474720"/>
            <a:ext cx="2651760" cy="777240"/>
          </a:xfrm>
          <a:prstGeom prst="rect">
            <a:avLst/>
          </a:prstGeom>
          <a:solidFill>
            <a:srgbClr val="FDE8E8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34" name="Text 29"/>
          <p:cNvSpPr/>
          <p:nvPr/>
        </p:nvSpPr>
        <p:spPr>
          <a:xfrm>
            <a:off x="6217920" y="35478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 recurrente recompras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6217920" y="39136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400" dirty="0"/>
          </a:p>
        </p:txBody>
      </p:sp>
      <p:sp>
        <p:nvSpPr>
          <p:cNvPr id="36" name="Shape 31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7" name="Text 32"/>
          <p:cNvSpPr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Ejemplo: Con ventas de $25M/mes = Comisión $1.750.000 + bonos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D923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Operativo del Representante</a:t>
            </a:r>
            <a:endParaRPr lang="en-US" sz="2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09728"/>
            <a:ext cx="1097280" cy="548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22960" y="1097280"/>
            <a:ext cx="457200" cy="457200"/>
          </a:xfrm>
          <a:prstGeom prst="ellipse">
            <a:avLst/>
          </a:prstGeom>
          <a:solidFill>
            <a:srgbClr val="D9232D"/>
          </a:solidFill>
          <a:ln/>
        </p:spPr>
      </p:sp>
      <p:sp>
        <p:nvSpPr>
          <p:cNvPr id="7" name="Text 3"/>
          <p:cNvSpPr/>
          <p:nvPr/>
        </p:nvSpPr>
        <p:spPr>
          <a:xfrm>
            <a:off x="822960" y="11430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1691640" y="1280160"/>
            <a:ext cx="457200" cy="45720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9" name="Shape 5"/>
          <p:cNvSpPr/>
          <p:nvPr/>
        </p:nvSpPr>
        <p:spPr>
          <a:xfrm>
            <a:off x="320040" y="1691640"/>
            <a:ext cx="16002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2880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11480" y="237744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Prospección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11480" y="26517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negocios potenciales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2606040" y="1097280"/>
            <a:ext cx="457200" cy="457200"/>
          </a:xfrm>
          <a:prstGeom prst="ellipse">
            <a:avLst/>
          </a:prstGeom>
          <a:solidFill>
            <a:srgbClr val="D9232D"/>
          </a:solidFill>
          <a:ln/>
        </p:spPr>
      </p:sp>
      <p:sp>
        <p:nvSpPr>
          <p:cNvPr id="14" name="Text 9"/>
          <p:cNvSpPr/>
          <p:nvPr/>
        </p:nvSpPr>
        <p:spPr>
          <a:xfrm>
            <a:off x="2606040" y="11430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3474720" y="1280160"/>
            <a:ext cx="457200" cy="45720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16" name="Shape 11"/>
          <p:cNvSpPr/>
          <p:nvPr/>
        </p:nvSpPr>
        <p:spPr>
          <a:xfrm>
            <a:off x="2103120" y="1691640"/>
            <a:ext cx="16002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182880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194560" y="237744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2194560" y="26517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 ENAR B2B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4389120" y="1097280"/>
            <a:ext cx="457200" cy="457200"/>
          </a:xfrm>
          <a:prstGeom prst="ellipse">
            <a:avLst/>
          </a:prstGeom>
          <a:solidFill>
            <a:srgbClr val="D9232D"/>
          </a:solidFill>
          <a:ln/>
        </p:spPr>
      </p:sp>
      <p:sp>
        <p:nvSpPr>
          <p:cNvPr id="21" name="Text 15"/>
          <p:cNvSpPr/>
          <p:nvPr/>
        </p:nvSpPr>
        <p:spPr>
          <a:xfrm>
            <a:off x="4389120" y="11430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5257800" y="1280160"/>
            <a:ext cx="457200" cy="45720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23" name="Shape 17"/>
          <p:cNvSpPr/>
          <p:nvPr/>
        </p:nvSpPr>
        <p:spPr>
          <a:xfrm>
            <a:off x="3886200" y="1691640"/>
            <a:ext cx="16002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1828800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977640" y="237744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3977640" y="26517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cuenta en la app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6172200" y="1097280"/>
            <a:ext cx="457200" cy="457200"/>
          </a:xfrm>
          <a:prstGeom prst="ellipse">
            <a:avLst/>
          </a:prstGeom>
          <a:solidFill>
            <a:srgbClr val="D9232D"/>
          </a:solidFill>
          <a:ln/>
        </p:spPr>
      </p:sp>
      <p:sp>
        <p:nvSpPr>
          <p:cNvPr id="28" name="Text 21"/>
          <p:cNvSpPr/>
          <p:nvPr/>
        </p:nvSpPr>
        <p:spPr>
          <a:xfrm>
            <a:off x="6172200" y="11430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7040880" y="1280160"/>
            <a:ext cx="457200" cy="45720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30" name="Shape 23"/>
          <p:cNvSpPr/>
          <p:nvPr/>
        </p:nvSpPr>
        <p:spPr>
          <a:xfrm>
            <a:off x="5669280" y="1691640"/>
            <a:ext cx="16002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1828800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760720" y="237744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5760720" y="26517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Coordinar entregas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7955280" y="1097280"/>
            <a:ext cx="457200" cy="457200"/>
          </a:xfrm>
          <a:prstGeom prst="ellipse">
            <a:avLst/>
          </a:prstGeom>
          <a:solidFill>
            <a:srgbClr val="D9232D"/>
          </a:solidFill>
          <a:ln/>
        </p:spPr>
      </p:sp>
      <p:sp>
        <p:nvSpPr>
          <p:cNvPr id="35" name="Text 27"/>
          <p:cNvSpPr/>
          <p:nvPr/>
        </p:nvSpPr>
        <p:spPr>
          <a:xfrm>
            <a:off x="7955280" y="11430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Shape 28"/>
          <p:cNvSpPr/>
          <p:nvPr/>
        </p:nvSpPr>
        <p:spPr>
          <a:xfrm>
            <a:off x="7452360" y="1691640"/>
            <a:ext cx="16002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1828800"/>
            <a:ext cx="457200" cy="45720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7543800" y="237744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Cobranza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7543800" y="26517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cartera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Semanal del Representante</a:t>
            </a:r>
            <a:endParaRPr lang="en-US" sz="1400" dirty="0"/>
          </a:p>
        </p:txBody>
      </p:sp>
      <p:sp>
        <p:nvSpPr>
          <p:cNvPr id="41" name="Shape 32"/>
          <p:cNvSpPr/>
          <p:nvPr/>
        </p:nvSpPr>
        <p:spPr>
          <a:xfrm>
            <a:off x="457200" y="3749040"/>
            <a:ext cx="26517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457200" y="3749040"/>
            <a:ext cx="2651760" cy="2560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3" name="Text 34"/>
          <p:cNvSpPr/>
          <p:nvPr/>
        </p:nvSpPr>
        <p:spPr>
          <a:xfrm>
            <a:off x="457200" y="377647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Lun-Mié</a:t>
            </a:r>
            <a:endParaRPr lang="en-US" sz="1100" dirty="0"/>
          </a:p>
        </p:txBody>
      </p:sp>
      <p:sp>
        <p:nvSpPr>
          <p:cNvPr id="44" name="Text 35"/>
          <p:cNvSpPr/>
          <p:nvPr/>
        </p:nvSpPr>
        <p:spPr>
          <a:xfrm>
            <a:off x="548640" y="4114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a clientes activos y prospectos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3291840" y="3749040"/>
            <a:ext cx="26517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46" name="Shape 37"/>
          <p:cNvSpPr/>
          <p:nvPr/>
        </p:nvSpPr>
        <p:spPr>
          <a:xfrm>
            <a:off x="3291840" y="3749040"/>
            <a:ext cx="2651760" cy="256032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47" name="Text 38"/>
          <p:cNvSpPr/>
          <p:nvPr/>
        </p:nvSpPr>
        <p:spPr>
          <a:xfrm>
            <a:off x="3291840" y="377647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Jueves</a:t>
            </a:r>
            <a:endParaRPr lang="en-US" sz="1100" dirty="0"/>
          </a:p>
        </p:txBody>
      </p:sp>
      <p:sp>
        <p:nvSpPr>
          <p:cNvPr id="48" name="Text 39"/>
          <p:cNvSpPr/>
          <p:nvPr/>
        </p:nvSpPr>
        <p:spPr>
          <a:xfrm>
            <a:off x="3383280" y="4114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pedidos y entregas</a:t>
            </a:r>
            <a:endParaRPr lang="en-US" sz="1000" dirty="0"/>
          </a:p>
        </p:txBody>
      </p:sp>
      <p:sp>
        <p:nvSpPr>
          <p:cNvPr id="49" name="Shape 40"/>
          <p:cNvSpPr/>
          <p:nvPr/>
        </p:nvSpPr>
        <p:spPr>
          <a:xfrm>
            <a:off x="6126480" y="3749040"/>
            <a:ext cx="26517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50" name="Shape 41"/>
          <p:cNvSpPr/>
          <p:nvPr/>
        </p:nvSpPr>
        <p:spPr>
          <a:xfrm>
            <a:off x="6126480" y="3749040"/>
            <a:ext cx="2651760" cy="256032"/>
          </a:xfrm>
          <a:prstGeom prst="rect">
            <a:avLst/>
          </a:prstGeom>
          <a:solidFill>
            <a:srgbClr val="D9232D"/>
          </a:solidFill>
          <a:ln/>
        </p:spPr>
      </p:sp>
      <p:sp>
        <p:nvSpPr>
          <p:cNvPr id="51" name="Text 42"/>
          <p:cNvSpPr/>
          <p:nvPr/>
        </p:nvSpPr>
        <p:spPr>
          <a:xfrm>
            <a:off x="6126480" y="377647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Viernes</a:t>
            </a:r>
            <a:endParaRPr lang="en-US" sz="1100" dirty="0"/>
          </a:p>
        </p:txBody>
      </p:sp>
      <p:sp>
        <p:nvSpPr>
          <p:cNvPr id="52" name="Text 43"/>
          <p:cNvSpPr/>
          <p:nvPr/>
        </p:nvSpPr>
        <p:spPr>
          <a:xfrm>
            <a:off x="6217920" y="4114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Cobranza y reportes semanales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D923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Éxito (KPIs)</a:t>
            </a:r>
            <a:endParaRPr lang="en-US" sz="2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09728"/>
            <a:ext cx="1097280" cy="548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05156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88720"/>
            <a:ext cx="365760" cy="365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64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</a:t>
            </a:r>
            <a:endParaRPr lang="en-US" sz="2800" dirty="0"/>
          </a:p>
        </p:txBody>
      </p:sp>
      <p:sp>
        <p:nvSpPr>
          <p:cNvPr id="9" name="Text 4"/>
          <p:cNvSpPr/>
          <p:nvPr/>
        </p:nvSpPr>
        <p:spPr>
          <a:xfrm>
            <a:off x="548640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activos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59436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zona primer trimestre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3291840" y="105156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188720"/>
            <a:ext cx="365760" cy="3657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38328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$25M</a:t>
            </a:r>
            <a:endParaRPr lang="en-US" sz="2800" dirty="0"/>
          </a:p>
        </p:txBody>
      </p:sp>
      <p:sp>
        <p:nvSpPr>
          <p:cNvPr id="14" name="Text 8"/>
          <p:cNvSpPr/>
          <p:nvPr/>
        </p:nvSpPr>
        <p:spPr>
          <a:xfrm>
            <a:off x="3383280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ventas/mes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342900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mensual representante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6126480" y="105156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188720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21792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2800" dirty="0"/>
          </a:p>
        </p:txBody>
      </p:sp>
      <p:sp>
        <p:nvSpPr>
          <p:cNvPr id="19" name="Text 12"/>
          <p:cNvSpPr/>
          <p:nvPr/>
        </p:nvSpPr>
        <p:spPr>
          <a:xfrm>
            <a:off x="6217920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recaudo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626364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Cartera en plazos acordados</a:t>
            </a:r>
            <a:endParaRPr lang="en-US" sz="900" dirty="0"/>
          </a:p>
        </p:txBody>
      </p:sp>
      <p:sp>
        <p:nvSpPr>
          <p:cNvPr id="21" name="Shape 14"/>
          <p:cNvSpPr/>
          <p:nvPr/>
        </p:nvSpPr>
        <p:spPr>
          <a:xfrm>
            <a:off x="457200" y="297180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108960"/>
            <a:ext cx="365760" cy="36576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48640" y="3520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24" name="Text 16"/>
          <p:cNvSpPr/>
          <p:nvPr/>
        </p:nvSpPr>
        <p:spPr>
          <a:xfrm>
            <a:off x="548640" y="3977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visitas/día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594360" y="4297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visitas efectivas</a:t>
            </a:r>
            <a:endParaRPr lang="en-US" sz="900" dirty="0"/>
          </a:p>
        </p:txBody>
      </p:sp>
      <p:sp>
        <p:nvSpPr>
          <p:cNvPr id="26" name="Shape 18"/>
          <p:cNvSpPr/>
          <p:nvPr/>
        </p:nvSpPr>
        <p:spPr>
          <a:xfrm>
            <a:off x="3291840" y="297180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3108960"/>
            <a:ext cx="365760" cy="36576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3383280" y="3520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9" name="Text 20"/>
          <p:cNvSpPr/>
          <p:nvPr/>
        </p:nvSpPr>
        <p:spPr>
          <a:xfrm>
            <a:off x="3383280" y="3977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nuevos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3429000" y="4297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Captación mensual mínima</a:t>
            </a:r>
            <a:endParaRPr lang="en-US" sz="900" dirty="0"/>
          </a:p>
        </p:txBody>
      </p:sp>
      <p:sp>
        <p:nvSpPr>
          <p:cNvPr id="31" name="Shape 22"/>
          <p:cNvSpPr/>
          <p:nvPr/>
        </p:nvSpPr>
        <p:spPr>
          <a:xfrm>
            <a:off x="6126480" y="297180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108960"/>
            <a:ext cx="365760" cy="36576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217920" y="3520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800" dirty="0"/>
          </a:p>
        </p:txBody>
      </p:sp>
      <p:sp>
        <p:nvSpPr>
          <p:cNvPr id="34" name="Text 24"/>
          <p:cNvSpPr/>
          <p:nvPr/>
        </p:nvSpPr>
        <p:spPr>
          <a:xfrm>
            <a:off x="6217920" y="3977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app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6263640" y="4297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 plataforma ENAR B2B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D923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Tecnológicas Recomendadas</a:t>
            </a:r>
            <a:endParaRPr lang="en-US" sz="2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09728"/>
            <a:ext cx="1097280" cy="548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05156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457200" y="1051560"/>
            <a:ext cx="73152" cy="1371600"/>
          </a:xfrm>
          <a:prstGeom prst="rect">
            <a:avLst/>
          </a:prstGeom>
          <a:solidFill>
            <a:srgbClr val="D9232D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34440"/>
            <a:ext cx="411480" cy="411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34440" y="12161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Móvil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1234440" y="14630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Zoho, HubSpot, Pipedrive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685800" y="18288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contactos y pipeline de ventas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663440" y="105156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4663440" y="1051560"/>
            <a:ext cx="73152" cy="1371600"/>
          </a:xfrm>
          <a:prstGeom prst="rect">
            <a:avLst/>
          </a:prstGeom>
          <a:solidFill>
            <a:srgbClr val="D9232D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34440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440680" y="12161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 Ruteo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5440680" y="14630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Badger Maps, Route4Me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892040" y="18288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rutas y ahorro de tiempo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457200" y="260604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57200" y="2606040"/>
            <a:ext cx="73152" cy="1371600"/>
          </a:xfrm>
          <a:prstGeom prst="rect">
            <a:avLst/>
          </a:prstGeom>
          <a:solidFill>
            <a:srgbClr val="D9232D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788920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34440" y="27706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234440" y="30175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ENAR B2B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685800" y="33832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automatizada con clientes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663440" y="260604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663440" y="2606040"/>
            <a:ext cx="73152" cy="1371600"/>
          </a:xfrm>
          <a:prstGeom prst="rect">
            <a:avLst/>
          </a:prstGeom>
          <a:solidFill>
            <a:srgbClr val="D9232D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788920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440680" y="27706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Digital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5440680" y="30175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DocuSign, SignNow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4892040" y="33832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y acuerdos desde el celular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Otras integraciones recomendadas: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457200" y="4389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KPIs en tiempo real (Power BI/Tableau) para monitoreo gerencial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Pasarela de pagos móvil (Wompi, Mercado Pago) para recaudo en campo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tracking integrado para verificación de visitas realizadas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923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8288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965960"/>
            <a:ext cx="365760" cy="365760"/>
          </a:xfrm>
          <a:prstGeom prst="ellipse">
            <a:avLst/>
          </a:prstGeom>
          <a:solidFill>
            <a:srgbClr val="D9232D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99339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60120" y="2011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las zonas geográficas prioritarias para lanzamiento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441448"/>
            <a:ext cx="365760" cy="365760"/>
          </a:xfrm>
          <a:prstGeom prst="ellipse">
            <a:avLst/>
          </a:prstGeom>
          <a:solidFill>
            <a:srgbClr val="D9232D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24688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60120" y="248716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Establecer el contrato de representación y políticas de comisión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916936"/>
            <a:ext cx="365760" cy="365760"/>
          </a:xfrm>
          <a:prstGeom prst="ellipse">
            <a:avLst/>
          </a:prstGeom>
          <a:solidFill>
            <a:srgbClr val="D9232D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294436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60120" y="2962656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material de capacitación para representantes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3392424"/>
            <a:ext cx="365760" cy="365760"/>
          </a:xfrm>
          <a:prstGeom prst="ellipse">
            <a:avLst/>
          </a:prstGeom>
          <a:solidFill>
            <a:srgbClr val="D9232D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341985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60120" y="343814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las herramientas tecnológicas adicionales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3867912"/>
            <a:ext cx="365760" cy="365760"/>
          </a:xfrm>
          <a:prstGeom prst="ellipse">
            <a:avLst/>
          </a:prstGeom>
          <a:solidFill>
            <a:srgbClr val="D9232D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389534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60120" y="391363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proceso de reclutamiento y selección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4343400"/>
            <a:ext cx="365760" cy="365760"/>
          </a:xfrm>
          <a:prstGeom prst="ellipse">
            <a:avLst/>
          </a:prstGeom>
          <a:solidFill>
            <a:srgbClr val="D9232D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43708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60120" y="43891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Lanzar programa piloto en 2-3 zonas seleccionadas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7200" y="4663440"/>
            <a:ext cx="8229600" cy="36576"/>
          </a:xfrm>
          <a:prstGeom prst="rect">
            <a:avLst/>
          </a:prstGeom>
          <a:solidFill>
            <a:srgbClr val="D9232D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297680"/>
            <a:ext cx="548640" cy="54864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5720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3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¿Listos para expandir ENAR en toda Colombia?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Representación por Zonas - ENAR B2B</dc:title>
  <dc:subject>PptxGenJS Presentation</dc:subject>
  <dc:creator>ENAR SAS</dc:creator>
  <cp:lastModifiedBy>ENAR SAS</cp:lastModifiedBy>
  <cp:revision>1</cp:revision>
  <dcterms:created xsi:type="dcterms:W3CDTF">2026-01-31T15:04:24Z</dcterms:created>
  <dcterms:modified xsi:type="dcterms:W3CDTF">2026-01-31T15:04:24Z</dcterms:modified>
</cp:coreProperties>
</file>