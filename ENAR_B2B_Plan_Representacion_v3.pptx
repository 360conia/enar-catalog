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1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50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31520"/>
            <a:ext cx="219456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ENAR B2B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Asesor comercial con IA integrado al catálogo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2286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Representación por Zonas Geográficas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para Representantes Comerciales en Colombia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73152" cy="173736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3444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8580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la red de distribución de ENAR a través de representantes zonales que atiendan negocios minoristas de materiales de construcción.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663440" y="10515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663440" y="1051560"/>
            <a:ext cx="73152" cy="173736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344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Objetivo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8920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Ferreterías, depósitos de materiales, tiendas de construcción y negocios que vendan directamente al consumidor final.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57200" y="2971800"/>
            <a:ext cx="73152" cy="173736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1546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8580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Representantes por comisión pura, sin salario fijo, con territorio exclusivo y herramientas tecnológicas de soporte.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66344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663440" y="2971800"/>
            <a:ext cx="73152" cy="173736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15468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8640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489204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ENAR B2B con IA integrada para autogeneración de órdenes + acompañamiento personalizado y asistencia técnica remota.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ENAR B2B - Catálogo de Autogestión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80060" y="1033272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7" name="Shape 3"/>
          <p:cNvSpPr/>
          <p:nvPr/>
        </p:nvSpPr>
        <p:spPr>
          <a:xfrm>
            <a:off x="457200" y="1051560"/>
            <a:ext cx="4023360" cy="64008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15568"/>
            <a:ext cx="50292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ENAR B2B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457200" y="1691640"/>
            <a:ext cx="4023360" cy="4572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92024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inteligente de productos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450592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2496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precios mayoristas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980944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3026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de compras integrado</a:t>
            </a:r>
            <a:endParaRPr lang="en-US" sz="12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511296"/>
            <a:ext cx="320040" cy="3200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51560" y="35570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órdenes de compra</a:t>
            </a:r>
            <a:endParaRPr lang="en-US" sz="12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041648"/>
            <a:ext cx="320040" cy="32004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51560" y="4087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de stock y ofertas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462272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4498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IA: Autogeneración de órdenes de compra</a:t>
            </a:r>
            <a:endParaRPr lang="en-US" sz="1100" dirty="0"/>
          </a:p>
        </p:txBody>
      </p:sp>
      <p:sp>
        <p:nvSpPr>
          <p:cNvPr id="24" name="Text 13"/>
          <p:cNvSpPr/>
          <p:nvPr/>
        </p:nvSpPr>
        <p:spPr>
          <a:xfrm>
            <a:off x="47548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Clave</a:t>
            </a:r>
            <a:endParaRPr lang="en-US" sz="1800" dirty="0"/>
          </a:p>
        </p:txBody>
      </p:sp>
      <p:sp>
        <p:nvSpPr>
          <p:cNvPr id="25" name="Shape 14"/>
          <p:cNvSpPr/>
          <p:nvPr/>
        </p:nvSpPr>
        <p:spPr>
          <a:xfrm>
            <a:off x="4754880" y="1554480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1627632"/>
            <a:ext cx="320040" cy="32004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257800" y="1600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24/7</a:t>
            </a:r>
            <a:endParaRPr lang="en-US" sz="1100" dirty="0"/>
          </a:p>
        </p:txBody>
      </p:sp>
      <p:sp>
        <p:nvSpPr>
          <p:cNvPr id="28" name="Text 16"/>
          <p:cNvSpPr/>
          <p:nvPr/>
        </p:nvSpPr>
        <p:spPr>
          <a:xfrm>
            <a:off x="5257800" y="18013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ordenan desde cualquier lugar</a:t>
            </a:r>
            <a:endParaRPr lang="en-US" sz="900" dirty="0"/>
          </a:p>
        </p:txBody>
      </p:sp>
      <p:sp>
        <p:nvSpPr>
          <p:cNvPr id="29" name="Shape 17"/>
          <p:cNvSpPr/>
          <p:nvPr/>
        </p:nvSpPr>
        <p:spPr>
          <a:xfrm>
            <a:off x="4754880" y="2084832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2157984"/>
            <a:ext cx="320040" cy="32004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257800" y="2130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70% tiempo</a:t>
            </a:r>
            <a:endParaRPr lang="en-US" sz="1100" dirty="0"/>
          </a:p>
        </p:txBody>
      </p:sp>
      <p:sp>
        <p:nvSpPr>
          <p:cNvPr id="32" name="Text 19"/>
          <p:cNvSpPr/>
          <p:nvPr/>
        </p:nvSpPr>
        <p:spPr>
          <a:xfrm>
            <a:off x="5257800" y="23317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en toma de pedidos</a:t>
            </a:r>
            <a:endParaRPr lang="en-US" sz="900" dirty="0"/>
          </a:p>
        </p:txBody>
      </p:sp>
      <p:sp>
        <p:nvSpPr>
          <p:cNvPr id="33" name="Shape 20"/>
          <p:cNvSpPr/>
          <p:nvPr/>
        </p:nvSpPr>
        <p:spPr>
          <a:xfrm>
            <a:off x="4754880" y="2615184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2688336"/>
            <a:ext cx="320040" cy="32004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257800" y="26609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errores</a:t>
            </a:r>
            <a:endParaRPr lang="en-US" sz="1100" dirty="0"/>
          </a:p>
        </p:txBody>
      </p:sp>
      <p:sp>
        <p:nvSpPr>
          <p:cNvPr id="36" name="Text 22"/>
          <p:cNvSpPr/>
          <p:nvPr/>
        </p:nvSpPr>
        <p:spPr>
          <a:xfrm>
            <a:off x="5257800" y="28620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errores de digitación</a:t>
            </a:r>
            <a:endParaRPr lang="en-US" sz="900" dirty="0"/>
          </a:p>
        </p:txBody>
      </p:sp>
      <p:sp>
        <p:nvSpPr>
          <p:cNvPr id="37" name="Shape 23"/>
          <p:cNvSpPr/>
          <p:nvPr/>
        </p:nvSpPr>
        <p:spPr>
          <a:xfrm>
            <a:off x="4754880" y="3145536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3218688"/>
            <a:ext cx="320040" cy="32004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257800" y="31912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según cliente</a:t>
            </a:r>
            <a:endParaRPr lang="en-US" sz="1100" dirty="0"/>
          </a:p>
        </p:txBody>
      </p:sp>
      <p:sp>
        <p:nvSpPr>
          <p:cNvPr id="40" name="Text 25"/>
          <p:cNvSpPr/>
          <p:nvPr/>
        </p:nvSpPr>
        <p:spPr>
          <a:xfrm>
            <a:off x="5257800" y="33924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precios personalizada</a:t>
            </a:r>
            <a:endParaRPr lang="en-US" sz="900" dirty="0"/>
          </a:p>
        </p:txBody>
      </p:sp>
      <p:sp>
        <p:nvSpPr>
          <p:cNvPr id="41" name="Shape 26"/>
          <p:cNvSpPr/>
          <p:nvPr/>
        </p:nvSpPr>
        <p:spPr>
          <a:xfrm>
            <a:off x="4754880" y="367588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3749040"/>
            <a:ext cx="320040" cy="320040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5257800" y="3721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en tiempo real</a:t>
            </a:r>
            <a:endParaRPr lang="en-US" sz="1100" dirty="0"/>
          </a:p>
        </p:txBody>
      </p:sp>
      <p:sp>
        <p:nvSpPr>
          <p:cNvPr id="44" name="Text 28"/>
          <p:cNvSpPr/>
          <p:nvPr/>
        </p:nvSpPr>
        <p:spPr>
          <a:xfrm>
            <a:off x="5257800" y="39227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actualizada al instante</a:t>
            </a:r>
            <a:endParaRPr lang="en-US" sz="900" dirty="0"/>
          </a:p>
        </p:txBody>
      </p:sp>
      <p:sp>
        <p:nvSpPr>
          <p:cNvPr id="45" name="Shape 29"/>
          <p:cNvSpPr/>
          <p:nvPr/>
        </p:nvSpPr>
        <p:spPr>
          <a:xfrm>
            <a:off x="4754880" y="4206240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4279392"/>
            <a:ext cx="320040" cy="32004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5257800" y="42519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amigable</a:t>
            </a:r>
            <a:endParaRPr lang="en-US" sz="1100" dirty="0"/>
          </a:p>
        </p:txBody>
      </p:sp>
      <p:sp>
        <p:nvSpPr>
          <p:cNvPr id="48" name="Text 31"/>
          <p:cNvSpPr/>
          <p:nvPr/>
        </p:nvSpPr>
        <p:spPr>
          <a:xfrm>
            <a:off x="5257800" y="44531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rendimiento e interfaz intuitiva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ENAR B2B - Catálogo y Carrito de Compras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4206240" cy="41148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Catálogo de Productos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1554480"/>
            <a:ext cx="4023360" cy="320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    PRODUCTO                    STOCK   P.MAYORISTA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48640" y="1920240"/>
            <a:ext cx="4023360" cy="329184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1993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       Soldadura Pvc 1/128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108960" y="19933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5709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749040" y="19933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$1.641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48640" y="2267712"/>
            <a:ext cx="4023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23408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       Limpiador Pvc-Cpvc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108960" y="23408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4749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749040" y="234086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$1.402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48640" y="2615184"/>
            <a:ext cx="4023360" cy="329184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" y="26883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       Soldadura Pvc 1/64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108960" y="26883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2541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749040" y="268833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$2.803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48640" y="2962656"/>
            <a:ext cx="4023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30358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       Enarcril Bolsa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108960" y="30358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1425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749040" y="303580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$6.082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48640" y="3310128"/>
            <a:ext cx="4023360" cy="329184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28" name="Text 24"/>
          <p:cNvSpPr/>
          <p:nvPr/>
        </p:nvSpPr>
        <p:spPr>
          <a:xfrm>
            <a:off x="640080" y="33832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       Pegante Amarillo 60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108960" y="33832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1185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749040" y="33832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$1.950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94360" y="3749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Categoría • Marca • Ofertas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498348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Carrito de Compras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5" name="Text 31"/>
          <p:cNvSpPr/>
          <p:nvPr/>
        </p:nvSpPr>
        <p:spPr>
          <a:xfrm>
            <a:off x="5074920" y="16733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 Pvc 1/64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074920" y="1874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Cant: 3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498080" y="1737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$8.408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983480" y="2194560"/>
            <a:ext cx="356616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9" name="Text 35"/>
          <p:cNvSpPr/>
          <p:nvPr/>
        </p:nvSpPr>
        <p:spPr>
          <a:xfrm>
            <a:off x="5074920" y="22677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Limpiador Pvc-Cpvc 1/64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07492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Cant: 3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7498080" y="2331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$6.379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983480" y="2788920"/>
            <a:ext cx="356616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3" name="Text 39"/>
          <p:cNvSpPr/>
          <p:nvPr/>
        </p:nvSpPr>
        <p:spPr>
          <a:xfrm>
            <a:off x="5074920" y="2862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 Pvc 1/32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5074920" y="3063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Cant: 6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7498080" y="2926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$27.835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4983480" y="3520440"/>
            <a:ext cx="3566160" cy="45720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7" name="Text 43"/>
          <p:cNvSpPr/>
          <p:nvPr/>
        </p:nvSpPr>
        <p:spPr>
          <a:xfrm>
            <a:off x="5074920" y="3639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(IVA incluido):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7132320" y="3611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$42.621</a:t>
            </a:r>
            <a:endParaRPr lang="en-US" sz="1600" dirty="0"/>
          </a:p>
        </p:txBody>
      </p:sp>
      <p:sp>
        <p:nvSpPr>
          <p:cNvPr id="49" name="Shape 45"/>
          <p:cNvSpPr/>
          <p:nvPr/>
        </p:nvSpPr>
        <p:spPr>
          <a:xfrm>
            <a:off x="5074920" y="4069080"/>
            <a:ext cx="1554480" cy="36576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50" name="Text 46"/>
          <p:cNvSpPr/>
          <p:nvPr/>
        </p:nvSpPr>
        <p:spPr>
          <a:xfrm>
            <a:off x="5074920" y="4133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Vaciar carrito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6812280" y="4069080"/>
            <a:ext cx="1554480" cy="365760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52" name="Text 48"/>
          <p:cNvSpPr/>
          <p:nvPr/>
        </p:nvSpPr>
        <p:spPr>
          <a:xfrm>
            <a:off x="6812280" y="4133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Orden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Negocio: Representante de Zona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Representante de Zona?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1600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 comercial independiente que: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exclusivamente a ENAR en un territorio geográfico definido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negocios minoristas para captar nuevos clientes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 clientes en el uso de la plataforma ENAR B2B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entregas y frecuencias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en el proceso de cobranza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comisión sobre ventas realizadas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663440" y="105156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8"/>
          <p:cNvSpPr/>
          <p:nvPr/>
        </p:nvSpPr>
        <p:spPr>
          <a:xfrm>
            <a:off x="484632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del Modelo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46320" y="1600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ENAR: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sin costos fijos de nómina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local con conocimiento de mercado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rápida a nuevas zonas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Representante: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ilimitados según desempeño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horaria y autonomía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 exclusivo protegido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tecnológica de soporte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Venta: Contado vs Crédito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4023360" cy="640080"/>
          </a:xfrm>
          <a:prstGeom prst="rect">
            <a:avLst/>
          </a:prstGeom>
          <a:solidFill>
            <a:srgbClr val="28A745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170432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DE CONTADO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40080" y="18288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de descuento sobre el total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en despacho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documentación adicional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inmediato al catálogo completo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mínimo: $500.000 COP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antes del despacho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Transferencia, efectivo o datáfono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663440" y="105156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663440" y="1051560"/>
            <a:ext cx="4023360" cy="64008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170432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92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30 DÍAS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4846320" y="18288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para acceder: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3 órdenes de contado previas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del negocio: 1 año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referencias comerciales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de comercio vigente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 inicial: Según evaluación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máximo: 30 días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mínimo: $1.000.000 COP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Crédito - Requisitos y Proceso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3444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Órdenes Previas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280160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compras de contado satisfactorio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754880" y="10515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754880" y="1051560"/>
            <a:ext cx="73152" cy="118872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2344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7784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Año de Antigüedad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577840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establecido con estabilidad demostrada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57200" y="2377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57200" y="2377440"/>
            <a:ext cx="73152" cy="118872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56032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Referencias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28016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activos que validen comportamiento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754880" y="2377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754880" y="2377440"/>
            <a:ext cx="73152" cy="118872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56032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5778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557784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de comercio, RUT, cédula representante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de Cupo de Crédito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8" name="Text 20"/>
          <p:cNvSpPr/>
          <p:nvPr/>
        </p:nvSpPr>
        <p:spPr>
          <a:xfrm>
            <a:off x="548640" y="42245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             REQUISITO                              CUPO MÁXIMO         PLAZO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30" name="Text 22"/>
          <p:cNvSpPr/>
          <p:nvPr/>
        </p:nvSpPr>
        <p:spPr>
          <a:xfrm>
            <a:off x="548640" y="459943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            Aprobación de crédito                    $3.000.000          30 días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4"/>
          <p:cNvSpPr/>
          <p:nvPr/>
        </p:nvSpPr>
        <p:spPr>
          <a:xfrm>
            <a:off x="548640" y="49194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Bronce            3 meses sin mora                    $5.000.000          30 días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57200" y="5166360"/>
            <a:ext cx="8229600" cy="320040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34" name="Text 26"/>
          <p:cNvSpPr/>
          <p:nvPr/>
        </p:nvSpPr>
        <p:spPr>
          <a:xfrm>
            <a:off x="548640" y="523951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            6 meses + $50M compras                    $10.000.000          30 días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Comisiones del Representante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3840480" cy="182880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23444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Comisión Pura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40080" y="1783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salario base fijo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variable según ventas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quincenales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por cumplimiento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Comisiones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4572000" y="14630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572000" y="1463040"/>
            <a:ext cx="54864" cy="54864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3" name="Text 8"/>
          <p:cNvSpPr/>
          <p:nvPr/>
        </p:nvSpPr>
        <p:spPr>
          <a:xfrm>
            <a:off x="4754880" y="15544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548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$0 - $10M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7772400" y="15727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4572000" y="210312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0" y="210312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3"/>
          <p:cNvSpPr/>
          <p:nvPr/>
        </p:nvSpPr>
        <p:spPr>
          <a:xfrm>
            <a:off x="4754880" y="21945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54880" y="23957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$10M - $30M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772400" y="22128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4572000" y="274320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0" y="2743200"/>
            <a:ext cx="54864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3" name="Text 18"/>
          <p:cNvSpPr/>
          <p:nvPr/>
        </p:nvSpPr>
        <p:spPr>
          <a:xfrm>
            <a:off x="4754880" y="2834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54880" y="30358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&gt; $30M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7772400" y="28529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Adicionales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57200" y="3474720"/>
            <a:ext cx="2651760" cy="777240"/>
          </a:xfrm>
          <a:prstGeom prst="rect">
            <a:avLst/>
          </a:prstGeom>
          <a:solidFill>
            <a:srgbClr val="FDE8E8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548640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por cliente nuevo activo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48640" y="3913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+$50.000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3291840" y="3474720"/>
            <a:ext cx="2651760" cy="777240"/>
          </a:xfrm>
          <a:prstGeom prst="rect">
            <a:avLst/>
          </a:prstGeom>
          <a:solidFill>
            <a:srgbClr val="FDE8E8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3383280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trimestral meta cumplida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3383280" y="3913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+1%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6126480" y="3474720"/>
            <a:ext cx="2651760" cy="777240"/>
          </a:xfrm>
          <a:prstGeom prst="rect">
            <a:avLst/>
          </a:prstGeom>
          <a:solidFill>
            <a:srgbClr val="FDE8E8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6217920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recurrente recompras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217920" y="3913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7" name="Text 32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Ejemplo: Con ventas de $25M/mes = Comisión $1.750.000 + bonos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Operativo del Representante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1097280"/>
            <a:ext cx="457200" cy="45720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691640" y="1280160"/>
            <a:ext cx="457200" cy="4572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9" name="Shape 5"/>
          <p:cNvSpPr/>
          <p:nvPr/>
        </p:nvSpPr>
        <p:spPr>
          <a:xfrm>
            <a:off x="320040" y="1691640"/>
            <a:ext cx="1600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8288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1480" y="2377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1148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negocios potenciales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606040" y="1097280"/>
            <a:ext cx="457200" cy="45720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14" name="Text 9"/>
          <p:cNvSpPr/>
          <p:nvPr/>
        </p:nvSpPr>
        <p:spPr>
          <a:xfrm>
            <a:off x="260604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474720" y="1280160"/>
            <a:ext cx="457200" cy="4572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6" name="Shape 11"/>
          <p:cNvSpPr/>
          <p:nvPr/>
        </p:nvSpPr>
        <p:spPr>
          <a:xfrm>
            <a:off x="2103120" y="1691640"/>
            <a:ext cx="1600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18288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94560" y="2377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19456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ENAR B2B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389120" y="1097280"/>
            <a:ext cx="457200" cy="45720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21" name="Text 15"/>
          <p:cNvSpPr/>
          <p:nvPr/>
        </p:nvSpPr>
        <p:spPr>
          <a:xfrm>
            <a:off x="438912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257800" y="1280160"/>
            <a:ext cx="457200" cy="4572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23" name="Shape 17"/>
          <p:cNvSpPr/>
          <p:nvPr/>
        </p:nvSpPr>
        <p:spPr>
          <a:xfrm>
            <a:off x="3886200" y="1691640"/>
            <a:ext cx="1600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182880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77640" y="2377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397764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cuenta en la app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172200" y="1097280"/>
            <a:ext cx="457200" cy="45720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28" name="Text 21"/>
          <p:cNvSpPr/>
          <p:nvPr/>
        </p:nvSpPr>
        <p:spPr>
          <a:xfrm>
            <a:off x="617220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7040880" y="1280160"/>
            <a:ext cx="457200" cy="4572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30" name="Shape 23"/>
          <p:cNvSpPr/>
          <p:nvPr/>
        </p:nvSpPr>
        <p:spPr>
          <a:xfrm>
            <a:off x="5669280" y="1691640"/>
            <a:ext cx="1600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18288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760720" y="2377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76072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entregas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7955280" y="1097280"/>
            <a:ext cx="457200" cy="45720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35" name="Text 27"/>
          <p:cNvSpPr/>
          <p:nvPr/>
        </p:nvSpPr>
        <p:spPr>
          <a:xfrm>
            <a:off x="795528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7452360" y="1691640"/>
            <a:ext cx="1600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1828800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543800" y="2377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754380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cartera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Semanal del Representante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457200" y="37490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57200" y="3749040"/>
            <a:ext cx="265176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34"/>
          <p:cNvSpPr/>
          <p:nvPr/>
        </p:nvSpPr>
        <p:spPr>
          <a:xfrm>
            <a:off x="457200" y="3776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Lun-Mié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54864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a clientes activos y prospectos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3291840" y="37490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3291840" y="3749040"/>
            <a:ext cx="2651760" cy="25603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7" name="Text 38"/>
          <p:cNvSpPr/>
          <p:nvPr/>
        </p:nvSpPr>
        <p:spPr>
          <a:xfrm>
            <a:off x="3291840" y="3776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338328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pedidos y entregas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6126480" y="37490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6126480" y="3749040"/>
            <a:ext cx="2651760" cy="256032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51" name="Text 42"/>
          <p:cNvSpPr/>
          <p:nvPr/>
        </p:nvSpPr>
        <p:spPr>
          <a:xfrm>
            <a:off x="6126480" y="3776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621792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y reportes semanales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Éxito (KPIs)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1887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54864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943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zona primer trimestre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329184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18872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832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ventas/mes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42900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mensual representante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12648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118872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179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19" name="Text 12"/>
          <p:cNvSpPr/>
          <p:nvPr/>
        </p:nvSpPr>
        <p:spPr>
          <a:xfrm>
            <a:off x="621792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recaudo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2636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en plazos acordados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45720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10896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864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4" name="Text 16"/>
          <p:cNvSpPr/>
          <p:nvPr/>
        </p:nvSpPr>
        <p:spPr>
          <a:xfrm>
            <a:off x="54864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visitas/día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59436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visitas efectivas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329184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310896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38328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0"/>
          <p:cNvSpPr/>
          <p:nvPr/>
        </p:nvSpPr>
        <p:spPr>
          <a:xfrm>
            <a:off x="338328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nuevos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342900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mensual mínima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612648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3108960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21792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34" name="Text 24"/>
          <p:cNvSpPr/>
          <p:nvPr/>
        </p:nvSpPr>
        <p:spPr>
          <a:xfrm>
            <a:off x="621792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app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26364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plataforma ENAR B2B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Tecnológicas Recomendadas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73152" cy="137160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3444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4440" y="1216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Móvil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234440" y="1463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Zoho, HubSpot, Pipedrive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8580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contactos y pipeline de ventas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663440" y="105156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663440" y="1051560"/>
            <a:ext cx="73152" cy="137160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2344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40680" y="1216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Ruteo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440680" y="1463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Badger Maps, Route4Me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89204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rutas y ahorro de tiempo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26060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57200" y="2606040"/>
            <a:ext cx="73152" cy="137160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78892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2770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234440" y="30175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ENAR B2B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85800" y="3383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automatizada con clientes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663440" y="26060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663440" y="2606040"/>
            <a:ext cx="73152" cy="137160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78892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40680" y="2770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440680" y="30175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DocuSign, SignNow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892040" y="3383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y acuerdos desde el celular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integraciones recomendadas: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KPIs en tiempo real (Power BI/Tableau) para monitoreo gerencial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 móvil (Wompi, Mercado Pago) para recaudo en campo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integrado para verificación de visitas realizadas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18288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9933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2011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zonas geográficas prioritarias para lanzamiento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441448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468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24871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el contrato de representación y políticas de comisión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916936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9443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296265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material de capacitación para representantes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392424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41985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34381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las herramientas tecnológicas adicionales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867912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89534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0120" y="39136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proceso de reclutamiento y selección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4343400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3708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01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programa piloto en 2-3 zonas seleccionadas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297680"/>
            <a:ext cx="548640" cy="5486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¿Listos para expandir ENAR en toda Colombia?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913</Words>
  <Application>Microsoft Macintosh PowerPoint</Application>
  <PresentationFormat>Presentación en pantalla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Representación por Zonas - ENAR B2B</dc:title>
  <dc:subject>PptxGenJS Presentation</dc:subject>
  <dc:creator>ENAR SAS</dc:creator>
  <cp:lastModifiedBy>Jota2002</cp:lastModifiedBy>
  <cp:revision>2</cp:revision>
  <dcterms:created xsi:type="dcterms:W3CDTF">2026-01-31T15:04:24Z</dcterms:created>
  <dcterms:modified xsi:type="dcterms:W3CDTF">2026-02-01T19:10:12Z</dcterms:modified>
</cp:coreProperties>
</file>